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a:t>
            </a:r>
          </a:p>
        </p:txBody>
      </p:sp>
      <p:sp>
        <p:nvSpPr>
          <p:cNvPr id="3" name="Content Placeholder 2"/>
          <p:cNvSpPr>
            <a:spLocks noGrp="1"/>
          </p:cNvSpPr>
          <p:nvPr>
            <p:ph idx="1"/>
          </p:nvPr>
        </p:nvSpPr>
        <p:spPr/>
        <p:txBody>
          <a:bodyPr/>
          <a:lstStyle/>
          <a:p>
            <a:r>
              <a:t>Agentic Research &amp; Decision Intelligence Platform</a:t>
            </a:r>
          </a:p>
          <a:p>
            <a:r>
              <a:t>Topic: Compare LangGraph, AutoGen, and CrewAI for evidence-grounded research 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Motivation</a:t>
            </a:r>
          </a:p>
        </p:txBody>
      </p:sp>
      <p:sp>
        <p:nvSpPr>
          <p:cNvPr id="3" name="Content Placeholder 2"/>
          <p:cNvSpPr>
            <a:spLocks noGrp="1"/>
          </p:cNvSpPr>
          <p:nvPr>
            <p:ph idx="1"/>
          </p:nvPr>
        </p:nvSpPr>
        <p:spPr/>
        <p:txBody>
          <a:bodyPr/>
          <a:lstStyle/>
          <a:p>
            <a:r>
              <a:t>Complex decisions require planning, evidence, critique, synthesis, and transparent uncertainty—especially in clinical-adjacent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Content Placeholder 2"/>
          <p:cNvSpPr>
            <a:spLocks noGrp="1"/>
          </p:cNvSpPr>
          <p:nvPr>
            <p:ph idx="1"/>
          </p:nvPr>
        </p:nvSpPr>
        <p:spPr/>
        <p:txBody>
          <a:bodyPr/>
          <a:lstStyle/>
          <a:p>
            <a:r>
              <a:t>Transform a broad research topic into a professional evidence-grounded report and presentation with traceability and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System</a:t>
            </a:r>
          </a:p>
        </p:txBody>
      </p:sp>
      <p:sp>
        <p:nvSpPr>
          <p:cNvPr id="3" name="Content Placeholder 2"/>
          <p:cNvSpPr>
            <a:spLocks noGrp="1"/>
          </p:cNvSpPr>
          <p:nvPr>
            <p:ph idx="1"/>
          </p:nvPr>
        </p:nvSpPr>
        <p:spPr/>
        <p:txBody>
          <a:bodyPr/>
          <a:lstStyle/>
          <a:p>
            <a:r>
              <a:t>Ten specialized agents coordinate through typed WorkflowState, conditional graph edges, SQLite memory, and deterministic mock evidence.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Multi-Agent Architecture</a:t>
            </a:r>
          </a:p>
        </p:txBody>
      </p:sp>
      <p:sp>
        <p:nvSpPr>
          <p:cNvPr id="3" name="Content Placeholder 2"/>
          <p:cNvSpPr>
            <a:spLocks noGrp="1"/>
          </p:cNvSpPr>
          <p:nvPr>
            <p:ph idx="1"/>
          </p:nvPr>
        </p:nvSpPr>
        <p:spPr/>
        <p:txBody>
          <a:bodyPr/>
          <a:lstStyle/>
          <a:p>
            <a:r>
              <a:t>Streamlit UI and FastAPI backend feed a LangGraph-style workflow. Agents call search, citation, visualization, report, presentation, and memory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LangGraph Workflow</a:t>
            </a:r>
          </a:p>
        </p:txBody>
      </p:sp>
      <p:sp>
        <p:nvSpPr>
          <p:cNvPr id="3" name="Content Placeholder 2"/>
          <p:cNvSpPr>
            <a:spLocks noGrp="1"/>
          </p:cNvSpPr>
          <p:nvPr>
            <p:ph idx="1"/>
          </p:nvPr>
        </p:nvSpPr>
        <p:spPr/>
        <p:txBody>
          <a:bodyPr/>
          <a:lstStyle/>
          <a:p>
            <a:r>
              <a:t>Planner → Research → Analyst → Critic → Fact-Check → Visualization → Report → Evaluator → Presentation → Memory.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Conditional Routing</a:t>
            </a:r>
          </a:p>
        </p:txBody>
      </p:sp>
      <p:sp>
        <p:nvSpPr>
          <p:cNvPr id="3" name="Content Placeholder 2"/>
          <p:cNvSpPr>
            <a:spLocks noGrp="1"/>
          </p:cNvSpPr>
          <p:nvPr>
            <p:ph idx="1"/>
          </p:nvPr>
        </p:nvSpPr>
        <p:spPr/>
        <p:txBody>
          <a:bodyPr/>
          <a:lstStyle/>
          <a:p>
            <a:r>
              <a:t>Critic loops back to Research when evidence is weak. Evaluator loops back to Report Writer when quality score Q is below threshold τ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Roles</a:t>
            </a:r>
          </a:p>
        </p:txBody>
      </p:sp>
      <p:sp>
        <p:nvSpPr>
          <p:cNvPr id="3" name="Content Placeholder 2"/>
          <p:cNvSpPr>
            <a:spLocks noGrp="1"/>
          </p:cNvSpPr>
          <p:nvPr>
            <p:ph idx="1"/>
          </p:nvPr>
        </p:nvSpPr>
        <p:spPr/>
        <p:txBody>
          <a:bodyPr/>
          <a:lstStyle/>
          <a:p>
            <a:r>
              <a:t>Planner decomposes; Research retrieves; Analyst structures; Critic challenges; Fact-Checker grounds; Visualization explains; Writer synthesizes; Evaluator scores.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Stack</a:t>
            </a:r>
          </a:p>
        </p:txBody>
      </p:sp>
      <p:sp>
        <p:nvSpPr>
          <p:cNvPr id="3" name="Content Placeholder 2"/>
          <p:cNvSpPr>
            <a:spLocks noGrp="1"/>
          </p:cNvSpPr>
          <p:nvPr>
            <p:ph idx="1"/>
          </p:nvPr>
        </p:nvSpPr>
        <p:spPr/>
        <p:txBody>
          <a:bodyPr/>
          <a:lstStyle/>
          <a:p>
            <a:r>
              <a:t>Python, LangGraph-compatible orchestration, FastAPI, Streamlit, SQLite, Matplotlib, LaTeX, Pytest, Docker.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Mock Mode Design</a:t>
            </a:r>
          </a:p>
        </p:txBody>
      </p:sp>
      <p:sp>
        <p:nvSpPr>
          <p:cNvPr id="3" name="Content Placeholder 2"/>
          <p:cNvSpPr>
            <a:spLocks noGrp="1"/>
          </p:cNvSpPr>
          <p:nvPr>
            <p:ph idx="1"/>
          </p:nvPr>
        </p:nvSpPr>
        <p:spPr/>
        <p:txBody>
          <a:bodyPr/>
          <a:lstStyle/>
          <a:p>
            <a:r>
              <a:t>USE_MOCK_LLM=true runs without paid API keys. A local corpus of 21 verified references keeps outputs deterministic for grading.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 Generation Pipeline</a:t>
            </a:r>
          </a:p>
        </p:txBody>
      </p:sp>
      <p:sp>
        <p:nvSpPr>
          <p:cNvPr id="3" name="Content Placeholder 2"/>
          <p:cNvSpPr>
            <a:spLocks noGrp="1"/>
          </p:cNvSpPr>
          <p:nvPr>
            <p:ph idx="1"/>
          </p:nvPr>
        </p:nvSpPr>
        <p:spPr/>
        <p:txBody>
          <a:bodyPr/>
          <a:lstStyle/>
          <a:p>
            <a:r>
              <a:t>Sources → claim checks → tables → figures → Markdown → LaTeX → PDF → presentation artifacts.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Mathematical Formulation</a:t>
            </a:r>
          </a:p>
        </p:txBody>
      </p:sp>
      <p:sp>
        <p:nvSpPr>
          <p:cNvPr id="3" name="Content Placeholder 2"/>
          <p:cNvSpPr>
            <a:spLocks noGrp="1"/>
          </p:cNvSpPr>
          <p:nvPr>
            <p:ph idx="1"/>
          </p:nvPr>
        </p:nvSpPr>
        <p:spPr/>
        <p:txBody>
          <a:bodyPr/>
          <a:lstStyle/>
          <a:p>
            <a:r>
              <a:t>Task decomposition T = {t₁,…,tₙ}; confidence C = Σwᵢsᵢ/Σwᵢ; quality Q = αF+βR+γS+δC_q; revision when Q &lt; 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Endpoints</a:t>
            </a:r>
          </a:p>
        </p:txBody>
      </p:sp>
      <p:sp>
        <p:nvSpPr>
          <p:cNvPr id="3" name="Content Placeholder 2"/>
          <p:cNvSpPr>
            <a:spLocks noGrp="1"/>
          </p:cNvSpPr>
          <p:nvPr>
            <p:ph idx="1"/>
          </p:nvPr>
        </p:nvSpPr>
        <p:spPr/>
        <p:txBody>
          <a:bodyPr/>
          <a:lstStyle/>
          <a:p>
            <a:r>
              <a:t>GET /health; POST /run; GET /runs/{run_id}; GET /runs/{run_id}/report; GET /runs/{run_id}/report.pdf; GET /runs/{run_id}/presentation; GET /runs/{run_id}/figures.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Methodology</a:t>
            </a:r>
          </a:p>
        </p:txBody>
      </p:sp>
      <p:sp>
        <p:nvSpPr>
          <p:cNvPr id="3" name="Content Placeholder 2"/>
          <p:cNvSpPr>
            <a:spLocks noGrp="1"/>
          </p:cNvSpPr>
          <p:nvPr>
            <p:ph idx="1"/>
          </p:nvPr>
        </p:nvSpPr>
        <p:spPr/>
        <p:txBody>
          <a:bodyPr/>
          <a:lstStyle/>
          <a:p>
            <a:r>
              <a:t>Rubric: factuality, relevance, completeness, structure, citation quality, clarity, visual quality, reproducibility (artifact quality, not clinical validity).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p:txBody>
          <a:bodyPr/>
          <a:lstStyle/>
          <a:p>
            <a:r>
              <a:t>Final score: 93.1/100. Confidence: 95.5/100. Sources: 21. Figures: 14. LaTeX PDF and PPTX generated.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Interface</a:t>
            </a:r>
          </a:p>
        </p:txBody>
      </p:sp>
      <p:sp>
        <p:nvSpPr>
          <p:cNvPr id="3" name="Content Placeholder 2"/>
          <p:cNvSpPr>
            <a:spLocks noGrp="1"/>
          </p:cNvSpPr>
          <p:nvPr>
            <p:ph idx="1"/>
          </p:nvPr>
        </p:nvSpPr>
        <p:spPr/>
        <p:txBody>
          <a:bodyPr/>
          <a:lstStyle/>
          <a:p>
            <a:r>
              <a:t>Streamlit demo UI with hero header, sidebar controls, and tabs for Overview, Workflow, Agents, Results, Figures, and Downloads.</a:t>
            </a:r>
          </a:p>
        </p:txBody>
      </p:sp>
      <p:pic>
        <p:nvPicPr>
          <p:cNvPr id="4" name="Picture 3" descr="ui_home.png"/>
          <p:cNvPicPr>
            <a:picLocks noChangeAspect="1"/>
          </p:cNvPicPr>
          <p:nvPr/>
        </p:nvPicPr>
        <p:blipFill>
          <a:blip r:embed="rId2"/>
          <a:stretch>
            <a:fillRect/>
          </a:stretch>
        </p:blipFill>
        <p:spPr>
          <a:xfrm>
            <a:off x="548640" y="1645920"/>
            <a:ext cx="8046720" cy="55321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Workflow Interface</a:t>
            </a:r>
          </a:p>
        </p:txBody>
      </p:sp>
      <p:sp>
        <p:nvSpPr>
          <p:cNvPr id="3" name="Content Placeholder 2"/>
          <p:cNvSpPr>
            <a:spLocks noGrp="1"/>
          </p:cNvSpPr>
          <p:nvPr>
            <p:ph idx="1"/>
          </p:nvPr>
        </p:nvSpPr>
        <p:spPr/>
        <p:txBody>
          <a:bodyPr/>
          <a:lstStyle/>
          <a:p>
            <a:r>
              <a:t>Workflow tab shows the ten-agent pipeline and conditional routing (Critic→Research, Evaluator→Report Writer).</a:t>
            </a:r>
          </a:p>
        </p:txBody>
      </p:sp>
      <p:pic>
        <p:nvPicPr>
          <p:cNvPr id="4" name="Picture 3" descr="ui_workflow.png"/>
          <p:cNvPicPr>
            <a:picLocks noChangeAspect="1"/>
          </p:cNvPicPr>
          <p:nvPr/>
        </p:nvPicPr>
        <p:blipFill>
          <a:blip r:embed="rId2"/>
          <a:stretch>
            <a:fillRect/>
          </a:stretch>
        </p:blipFill>
        <p:spPr>
          <a:xfrm>
            <a:off x="548640" y="1645920"/>
            <a:ext cx="8046720" cy="55321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Results</a:t>
            </a:r>
          </a:p>
        </p:txBody>
      </p:sp>
      <p:sp>
        <p:nvSpPr>
          <p:cNvPr id="3" name="Content Placeholder 2"/>
          <p:cNvSpPr>
            <a:spLocks noGrp="1"/>
          </p:cNvSpPr>
          <p:nvPr>
            <p:ph idx="1"/>
          </p:nvPr>
        </p:nvSpPr>
        <p:spPr/>
        <p:txBody>
          <a:bodyPr/>
          <a:lstStyle/>
          <a:p>
            <a:r>
              <a:t>Evaluation 93.1/100; 14 figures; report and presentation generated.</a:t>
            </a:r>
          </a:p>
        </p:txBody>
      </p:sp>
      <p:pic>
        <p:nvPicPr>
          <p:cNvPr id="4" name="Picture 3" descr="demo_evaluation_score.png"/>
          <p:cNvPicPr>
            <a:picLocks noChangeAspect="1"/>
          </p:cNvPicPr>
          <p:nvPr/>
        </p:nvPicPr>
        <p:blipFill>
          <a:blip r:embed="rId2"/>
          <a:stretch>
            <a:fillRect/>
          </a:stretch>
        </p:blipFill>
        <p:spPr>
          <a:xfrm>
            <a:off x="548640" y="1645920"/>
            <a:ext cx="8046720" cy="4172373"/>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and Reproducibility</a:t>
            </a:r>
          </a:p>
        </p:txBody>
      </p:sp>
      <p:sp>
        <p:nvSpPr>
          <p:cNvPr id="3" name="Content Placeholder 2"/>
          <p:cNvSpPr>
            <a:spLocks noGrp="1"/>
          </p:cNvSpPr>
          <p:nvPr>
            <p:ph idx="1"/>
          </p:nvPr>
        </p:nvSpPr>
        <p:spPr/>
        <p:txBody>
          <a:bodyPr/>
          <a:lstStyle/>
          <a:p>
            <a:r>
              <a:t>pytest -v; python scripts/run_demo.py; python scripts/build_report_pdf.py; python scripts/capture_ui_screenshots.py; Docker Compose.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a:lstStyle/>
          <a:p>
            <a:r>
              <a:t>Static mock corpus; metadata-level fact checking; no clinical validation; human review required; not a medical device.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Usage and Development Transparency</a:t>
            </a:r>
          </a:p>
        </p:txBody>
      </p:sp>
      <p:sp>
        <p:nvSpPr>
          <p:cNvPr id="3" name="Content Placeholder 2"/>
          <p:cNvSpPr>
            <a:spLocks noGrp="1"/>
          </p:cNvSpPr>
          <p:nvPr>
            <p:ph idx="1"/>
          </p:nvPr>
        </p:nvSpPr>
        <p:spPr/>
        <p:txBody>
          <a:bodyPr/>
          <a:lstStyle/>
          <a:p>
            <a:r>
              <a:t>External AI tools (ChatGPT, Codex-style assistant, Cursor AI, NotebookLM) supported planning, implementation, documentation, and presentation drafting. The implemented system itself contains separate internal runtime agents. The student defined requirements, supervised development, reviewed outputs, tested the system, and prepared final submission. Mock mode and tests support reproducibility.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p:txBody>
          <a:bodyPr/>
          <a:lstStyle/>
          <a:p>
            <a:r>
              <a:t>Live retrieval, vector stores, entailment-based fact checking, human-in-the-loop approval, security hardening, formal clinical evaluation.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A reproducible multi-agent prototype that produces inspectable, evidence-grounded academic deliverables suitable for university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